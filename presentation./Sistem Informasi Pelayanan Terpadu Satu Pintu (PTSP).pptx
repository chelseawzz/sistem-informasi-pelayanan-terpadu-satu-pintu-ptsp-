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erriweather Bold" charset="1" panose="00000800000000000000"/>
      <p:regular r:id="rId16"/>
    </p:embeddedFont>
    <p:embeddedFont>
      <p:font typeface="Inter" charset="1" panose="020B0502030000000004"/>
      <p:regular r:id="rId17"/>
    </p:embeddedFon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Inter Bold" charset="1" panose="020B0802030000000004"/>
      <p:regular r:id="rId20"/>
    </p:embeddedFont>
    <p:embeddedFont>
      <p:font typeface="Open Sans Bold" charset="1" panose="020B0806030504020204"/>
      <p:regular r:id="rId21"/>
    </p:embeddedFont>
    <p:embeddedFont>
      <p:font typeface="Open Sans" charset="1" panose="020B06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https://www.figma.com/make/JOQyY2o3IQ0m8RfH6MOVMf/Sistem-Integrasi-Perizinan?p=f&amp;t=hgqqGFdy6yOPauMR-0&amp;fullscreen=1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0721" y="2145676"/>
            <a:ext cx="2959680" cy="6910499"/>
            <a:chOff x="0" y="0"/>
            <a:chExt cx="779504" cy="1820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9504" cy="1820049"/>
            </a:xfrm>
            <a:custGeom>
              <a:avLst/>
              <a:gdLst/>
              <a:ahLst/>
              <a:cxnLst/>
              <a:rect r="r" b="b" t="t" l="l"/>
              <a:pathLst>
                <a:path h="1820049" w="779504">
                  <a:moveTo>
                    <a:pt x="0" y="0"/>
                  </a:moveTo>
                  <a:lnTo>
                    <a:pt x="779504" y="0"/>
                  </a:lnTo>
                  <a:lnTo>
                    <a:pt x="779504" y="1820049"/>
                  </a:lnTo>
                  <a:lnTo>
                    <a:pt x="0" y="1820049"/>
                  </a:lnTo>
                  <a:close/>
                </a:path>
              </a:pathLst>
            </a:custGeom>
            <a:solidFill>
              <a:srgbClr val="BCA37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79504" cy="1867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50683" y="7365373"/>
            <a:ext cx="1190712" cy="119071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207460" y="7876541"/>
            <a:ext cx="2618042" cy="4114800"/>
          </a:xfrm>
          <a:custGeom>
            <a:avLst/>
            <a:gdLst/>
            <a:ahLst/>
            <a:cxnLst/>
            <a:rect r="r" b="b" t="t" l="l"/>
            <a:pathLst>
              <a:path h="4114800" w="2618042">
                <a:moveTo>
                  <a:pt x="0" y="0"/>
                </a:moveTo>
                <a:lnTo>
                  <a:pt x="2618042" y="0"/>
                </a:lnTo>
                <a:lnTo>
                  <a:pt x="2618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3601700" y="2158589"/>
            <a:ext cx="7315200" cy="247973"/>
          </a:xfrm>
          <a:custGeom>
            <a:avLst/>
            <a:gdLst/>
            <a:ahLst/>
            <a:cxnLst/>
            <a:rect r="r" b="b" t="t" l="l"/>
            <a:pathLst>
              <a:path h="247973" w="7315200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74125" y="-869877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7" y="0"/>
                </a:lnTo>
                <a:lnTo>
                  <a:pt x="3251377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41511" y="2716916"/>
            <a:ext cx="14265949" cy="369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99"/>
              </a:lnSpc>
            </a:pPr>
            <a:r>
              <a:rPr lang="en-US" b="true" sz="8508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Sistem Informasi Pelayanan Terpadu Satu Pintu (PTSP) – KLHK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58959" y="457755"/>
            <a:ext cx="2038183" cy="656957"/>
          </a:xfrm>
          <a:custGeom>
            <a:avLst/>
            <a:gdLst/>
            <a:ahLst/>
            <a:cxnLst/>
            <a:rect r="r" b="b" t="t" l="l"/>
            <a:pathLst>
              <a:path h="656957" w="2038183">
                <a:moveTo>
                  <a:pt x="0" y="0"/>
                </a:moveTo>
                <a:lnTo>
                  <a:pt x="2038183" y="0"/>
                </a:lnTo>
                <a:lnTo>
                  <a:pt x="2038183" y="656957"/>
                </a:lnTo>
                <a:lnTo>
                  <a:pt x="0" y="65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614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098051"/>
            <a:ext cx="826223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 spc="439">
                <a:solidFill>
                  <a:srgbClr val="705C40"/>
                </a:solidFill>
                <a:latin typeface="Inter"/>
                <a:ea typeface="Inter"/>
                <a:cs typeface="Inter"/>
                <a:sym typeface="Inter"/>
              </a:rPr>
              <a:t>MANAJEMEN PROYEK KELOMPOK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723826"/>
            <a:ext cx="852738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Lecturer                 : Nuchaila Ainiyah, S.Mat., M.Stat.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294628"/>
            <a:ext cx="309175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Team Member   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75102" y="7294628"/>
            <a:ext cx="8850755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Aura Aulia A.H.P (1206230003)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Mochammad</a:t>
            </a:r>
            <a:r>
              <a:rPr lang="en-US" sz="2400" b="true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Fery. A (1206230044)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Jonathan M. Panggabean (1206230051)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Novita Chelsea Lodar (1206230052)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1511" y="9796787"/>
            <a:ext cx="13753955" cy="1875532"/>
            <a:chOff x="0" y="0"/>
            <a:chExt cx="3622441" cy="4939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22441" cy="493967"/>
            </a:xfrm>
            <a:custGeom>
              <a:avLst/>
              <a:gdLst/>
              <a:ahLst/>
              <a:cxnLst/>
              <a:rect r="r" b="b" t="t" l="l"/>
              <a:pathLst>
                <a:path h="493967" w="3622441">
                  <a:moveTo>
                    <a:pt x="0" y="0"/>
                  </a:moveTo>
                  <a:lnTo>
                    <a:pt x="3622441" y="0"/>
                  </a:lnTo>
                  <a:lnTo>
                    <a:pt x="3622441" y="493967"/>
                  </a:lnTo>
                  <a:lnTo>
                    <a:pt x="0" y="493967"/>
                  </a:lnTo>
                  <a:close/>
                </a:path>
              </a:pathLst>
            </a:custGeom>
            <a:solidFill>
              <a:srgbClr val="BCA37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622441" cy="541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75279" y="1348138"/>
            <a:ext cx="1254925" cy="677883"/>
            <a:chOff x="0" y="0"/>
            <a:chExt cx="330515" cy="178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0515" cy="178537"/>
            </a:xfrm>
            <a:custGeom>
              <a:avLst/>
              <a:gdLst/>
              <a:ahLst/>
              <a:cxnLst/>
              <a:rect r="r" b="b" t="t" l="l"/>
              <a:pathLst>
                <a:path h="178537" w="330515">
                  <a:moveTo>
                    <a:pt x="0" y="0"/>
                  </a:moveTo>
                  <a:lnTo>
                    <a:pt x="330515" y="0"/>
                  </a:lnTo>
                  <a:lnTo>
                    <a:pt x="330515" y="178537"/>
                  </a:lnTo>
                  <a:lnTo>
                    <a:pt x="0" y="178537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0515" cy="226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8959" y="457755"/>
            <a:ext cx="2038183" cy="656957"/>
          </a:xfrm>
          <a:custGeom>
            <a:avLst/>
            <a:gdLst/>
            <a:ahLst/>
            <a:cxnLst/>
            <a:rect r="r" b="b" t="t" l="l"/>
            <a:pathLst>
              <a:path h="656957" w="2038183">
                <a:moveTo>
                  <a:pt x="0" y="0"/>
                </a:moveTo>
                <a:lnTo>
                  <a:pt x="2038183" y="0"/>
                </a:lnTo>
                <a:lnTo>
                  <a:pt x="2038183" y="656957"/>
                </a:lnTo>
                <a:lnTo>
                  <a:pt x="0" y="656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6141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44000" y="-183747"/>
            <a:ext cx="9839716" cy="10654494"/>
            <a:chOff x="0" y="0"/>
            <a:chExt cx="2591530" cy="2806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91530" cy="2806122"/>
            </a:xfrm>
            <a:custGeom>
              <a:avLst/>
              <a:gdLst/>
              <a:ahLst/>
              <a:cxnLst/>
              <a:rect r="r" b="b" t="t" l="l"/>
              <a:pathLst>
                <a:path h="2806122" w="2591530">
                  <a:moveTo>
                    <a:pt x="0" y="0"/>
                  </a:moveTo>
                  <a:lnTo>
                    <a:pt x="2591530" y="0"/>
                  </a:lnTo>
                  <a:lnTo>
                    <a:pt x="2591530" y="2806122"/>
                  </a:lnTo>
                  <a:lnTo>
                    <a:pt x="0" y="2806122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591530" cy="2853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824867" y="3219335"/>
            <a:ext cx="7434433" cy="3450299"/>
          </a:xfrm>
          <a:custGeom>
            <a:avLst/>
            <a:gdLst/>
            <a:ahLst/>
            <a:cxnLst/>
            <a:rect r="r" b="b" t="t" l="l"/>
            <a:pathLst>
              <a:path h="3450299" w="7434433">
                <a:moveTo>
                  <a:pt x="0" y="0"/>
                </a:moveTo>
                <a:lnTo>
                  <a:pt x="7434433" y="0"/>
                </a:lnTo>
                <a:lnTo>
                  <a:pt x="7434433" y="3450299"/>
                </a:lnTo>
                <a:lnTo>
                  <a:pt x="0" y="3450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0172" y="1341957"/>
            <a:ext cx="4534512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CHARTER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34975" y="2375420"/>
            <a:ext cx="4570107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 Informasi Pelayanan Terpadu Satu Pintu (PTSP)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8959" y="2375420"/>
            <a:ext cx="175800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Judul       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8959" y="3454911"/>
            <a:ext cx="175800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Sponsor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82540" y="3483486"/>
            <a:ext cx="6268674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Pusat Data dan Informasi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Kementerian Lingkungan Hidup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Badan Pengendalian Lingkungan Hidup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58959" y="5451351"/>
            <a:ext cx="175800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Tujuan  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82540" y="5479926"/>
            <a:ext cx="7673257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Meningkatkan efisiensi, transparansi, dan akuntabilitas layanan perizinan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Mendukung transformasi digital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Mengurangi potensi KKN melalui digitalisasi proses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892065" y="7864626"/>
            <a:ext cx="4570107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Anggaran Rp 95.000.000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Durasi 30 hari kalender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468484" y="7857366"/>
            <a:ext cx="175800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Aspek       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1073" y="2375420"/>
            <a:ext cx="284683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UTAMA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75279" y="1348138"/>
            <a:ext cx="1254925" cy="677883"/>
            <a:chOff x="0" y="0"/>
            <a:chExt cx="330515" cy="178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0515" cy="178537"/>
            </a:xfrm>
            <a:custGeom>
              <a:avLst/>
              <a:gdLst/>
              <a:ahLst/>
              <a:cxnLst/>
              <a:rect r="r" b="b" t="t" l="l"/>
              <a:pathLst>
                <a:path h="178537" w="330515">
                  <a:moveTo>
                    <a:pt x="0" y="0"/>
                  </a:moveTo>
                  <a:lnTo>
                    <a:pt x="330515" y="0"/>
                  </a:lnTo>
                  <a:lnTo>
                    <a:pt x="330515" y="178537"/>
                  </a:lnTo>
                  <a:lnTo>
                    <a:pt x="0" y="178537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0515" cy="226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8959" y="457755"/>
            <a:ext cx="2038183" cy="656957"/>
          </a:xfrm>
          <a:custGeom>
            <a:avLst/>
            <a:gdLst/>
            <a:ahLst/>
            <a:cxnLst/>
            <a:rect r="r" b="b" t="t" l="l"/>
            <a:pathLst>
              <a:path h="656957" w="2038183">
                <a:moveTo>
                  <a:pt x="0" y="0"/>
                </a:moveTo>
                <a:lnTo>
                  <a:pt x="2038183" y="0"/>
                </a:lnTo>
                <a:lnTo>
                  <a:pt x="2038183" y="656957"/>
                </a:lnTo>
                <a:lnTo>
                  <a:pt x="0" y="656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6141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0172" y="2497370"/>
            <a:ext cx="698728" cy="6987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72"/>
                </a:lnSpc>
              </a:pPr>
              <a:r>
                <a:rPr lang="en-US" b="true" sz="255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20172" y="5030609"/>
            <a:ext cx="698728" cy="69872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72"/>
                </a:lnSpc>
              </a:pPr>
              <a:r>
                <a:rPr lang="en-US" b="true" sz="255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0172" y="7628994"/>
            <a:ext cx="698728" cy="69872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72"/>
                </a:lnSpc>
              </a:pPr>
              <a:r>
                <a:rPr lang="en-US" b="true" sz="255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68093" y="2486313"/>
            <a:ext cx="698728" cy="69872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72"/>
                </a:lnSpc>
              </a:pPr>
              <a:r>
                <a:rPr lang="en-US" b="true" sz="255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472868" y="6111440"/>
            <a:ext cx="6231853" cy="3501168"/>
          </a:xfrm>
          <a:custGeom>
            <a:avLst/>
            <a:gdLst/>
            <a:ahLst/>
            <a:cxnLst/>
            <a:rect r="r" b="b" t="t" l="l"/>
            <a:pathLst>
              <a:path h="3501168" w="6231853">
                <a:moveTo>
                  <a:pt x="0" y="0"/>
                </a:moveTo>
                <a:lnTo>
                  <a:pt x="6231852" y="0"/>
                </a:lnTo>
                <a:lnTo>
                  <a:pt x="6231852" y="3501168"/>
                </a:lnTo>
                <a:lnTo>
                  <a:pt x="0" y="3501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20172" y="1341957"/>
            <a:ext cx="6921263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SCOPE MANAGEMENT PLAN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3481" y="2600989"/>
            <a:ext cx="391378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Dasar Penentuan Scope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8899" y="3055629"/>
            <a:ext cx="6961601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Project Charter PTSP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SRS Sistem PTSP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Kebutuhan bisnis unit perizinan KLHK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andar SPBE &amp; kebijakan keamanan KLHK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3006" y="5196964"/>
            <a:ext cx="391378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Ruang Lingkup Proyek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8424" y="5651604"/>
            <a:ext cx="6961601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Aplikasi mobile native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 di luar PTSP KLHK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Pengada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hardware baru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Verifikasi lapangan manual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3006" y="7795349"/>
            <a:ext cx="528424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 Luar Ruang Lingkup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424" y="8249988"/>
            <a:ext cx="8239668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Aplikasi mobile native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 di luar PTSP KLHK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Pengada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hardware baru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erifikasi lapangan manual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161402" y="2589931"/>
            <a:ext cx="637752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Pengendalian &amp; Verifikasi Scope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66820" y="3044571"/>
            <a:ext cx="6961601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Verifikasi berdasarkan SRS &amp; acceptance criteria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erubahan scope wajib melalui Change Reques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Persetujuan akhir oleh Sponsor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472868" y="6124072"/>
            <a:ext cx="4399073" cy="2471479"/>
          </a:xfrm>
          <a:custGeom>
            <a:avLst/>
            <a:gdLst/>
            <a:ahLst/>
            <a:cxnLst/>
            <a:rect r="r" b="b" t="t" l="l"/>
            <a:pathLst>
              <a:path h="2471479" w="4399073">
                <a:moveTo>
                  <a:pt x="0" y="0"/>
                </a:moveTo>
                <a:lnTo>
                  <a:pt x="4399072" y="0"/>
                </a:lnTo>
                <a:lnTo>
                  <a:pt x="4399072" y="2471479"/>
                </a:lnTo>
                <a:lnTo>
                  <a:pt x="0" y="2471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75279" y="1348138"/>
            <a:ext cx="1254925" cy="677883"/>
            <a:chOff x="0" y="0"/>
            <a:chExt cx="330515" cy="178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0515" cy="178537"/>
            </a:xfrm>
            <a:custGeom>
              <a:avLst/>
              <a:gdLst/>
              <a:ahLst/>
              <a:cxnLst/>
              <a:rect r="r" b="b" t="t" l="l"/>
              <a:pathLst>
                <a:path h="178537" w="330515">
                  <a:moveTo>
                    <a:pt x="0" y="0"/>
                  </a:moveTo>
                  <a:lnTo>
                    <a:pt x="330515" y="0"/>
                  </a:lnTo>
                  <a:lnTo>
                    <a:pt x="330515" y="178537"/>
                  </a:lnTo>
                  <a:lnTo>
                    <a:pt x="0" y="178537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0515" cy="226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8959" y="457755"/>
            <a:ext cx="2038183" cy="656957"/>
          </a:xfrm>
          <a:custGeom>
            <a:avLst/>
            <a:gdLst/>
            <a:ahLst/>
            <a:cxnLst/>
            <a:rect r="r" b="b" t="t" l="l"/>
            <a:pathLst>
              <a:path h="656957" w="2038183">
                <a:moveTo>
                  <a:pt x="0" y="0"/>
                </a:moveTo>
                <a:lnTo>
                  <a:pt x="2038183" y="0"/>
                </a:lnTo>
                <a:lnTo>
                  <a:pt x="2038183" y="656957"/>
                </a:lnTo>
                <a:lnTo>
                  <a:pt x="0" y="656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614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8051" y="2326842"/>
            <a:ext cx="15253616" cy="7111998"/>
          </a:xfrm>
          <a:custGeom>
            <a:avLst/>
            <a:gdLst/>
            <a:ahLst/>
            <a:cxnLst/>
            <a:rect r="r" b="b" t="t" l="l"/>
            <a:pathLst>
              <a:path h="7111998" w="15253616">
                <a:moveTo>
                  <a:pt x="0" y="0"/>
                </a:moveTo>
                <a:lnTo>
                  <a:pt x="15253615" y="0"/>
                </a:lnTo>
                <a:lnTo>
                  <a:pt x="15253615" y="7111999"/>
                </a:lnTo>
                <a:lnTo>
                  <a:pt x="0" y="7111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0172" y="1341957"/>
            <a:ext cx="7922159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WORK BREAKDOWN STRUCTURE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75279" y="1348138"/>
            <a:ext cx="1254925" cy="677883"/>
            <a:chOff x="0" y="0"/>
            <a:chExt cx="330515" cy="178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0515" cy="178537"/>
            </a:xfrm>
            <a:custGeom>
              <a:avLst/>
              <a:gdLst/>
              <a:ahLst/>
              <a:cxnLst/>
              <a:rect r="r" b="b" t="t" l="l"/>
              <a:pathLst>
                <a:path h="178537" w="330515">
                  <a:moveTo>
                    <a:pt x="0" y="0"/>
                  </a:moveTo>
                  <a:lnTo>
                    <a:pt x="330515" y="0"/>
                  </a:lnTo>
                  <a:lnTo>
                    <a:pt x="330515" y="178537"/>
                  </a:lnTo>
                  <a:lnTo>
                    <a:pt x="0" y="178537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0515" cy="226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8959" y="457755"/>
            <a:ext cx="2038183" cy="656957"/>
          </a:xfrm>
          <a:custGeom>
            <a:avLst/>
            <a:gdLst/>
            <a:ahLst/>
            <a:cxnLst/>
            <a:rect r="r" b="b" t="t" l="l"/>
            <a:pathLst>
              <a:path h="656957" w="2038183">
                <a:moveTo>
                  <a:pt x="0" y="0"/>
                </a:moveTo>
                <a:lnTo>
                  <a:pt x="2038183" y="0"/>
                </a:lnTo>
                <a:lnTo>
                  <a:pt x="2038183" y="656957"/>
                </a:lnTo>
                <a:lnTo>
                  <a:pt x="0" y="656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614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9646" y="2508225"/>
            <a:ext cx="15168708" cy="6750075"/>
          </a:xfrm>
          <a:custGeom>
            <a:avLst/>
            <a:gdLst/>
            <a:ahLst/>
            <a:cxnLst/>
            <a:rect r="r" b="b" t="t" l="l"/>
            <a:pathLst>
              <a:path h="6750075" w="15168708">
                <a:moveTo>
                  <a:pt x="0" y="0"/>
                </a:moveTo>
                <a:lnTo>
                  <a:pt x="15168708" y="0"/>
                </a:lnTo>
                <a:lnTo>
                  <a:pt x="15168708" y="6750075"/>
                </a:lnTo>
                <a:lnTo>
                  <a:pt x="0" y="6750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0172" y="1341957"/>
            <a:ext cx="7922159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SCHEDULE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75279" y="1348138"/>
            <a:ext cx="1254925" cy="677883"/>
            <a:chOff x="0" y="0"/>
            <a:chExt cx="330515" cy="178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0515" cy="178537"/>
            </a:xfrm>
            <a:custGeom>
              <a:avLst/>
              <a:gdLst/>
              <a:ahLst/>
              <a:cxnLst/>
              <a:rect r="r" b="b" t="t" l="l"/>
              <a:pathLst>
                <a:path h="178537" w="330515">
                  <a:moveTo>
                    <a:pt x="0" y="0"/>
                  </a:moveTo>
                  <a:lnTo>
                    <a:pt x="330515" y="0"/>
                  </a:lnTo>
                  <a:lnTo>
                    <a:pt x="330515" y="178537"/>
                  </a:lnTo>
                  <a:lnTo>
                    <a:pt x="0" y="178537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0515" cy="226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8959" y="457755"/>
            <a:ext cx="2038183" cy="656957"/>
          </a:xfrm>
          <a:custGeom>
            <a:avLst/>
            <a:gdLst/>
            <a:ahLst/>
            <a:cxnLst/>
            <a:rect r="r" b="b" t="t" l="l"/>
            <a:pathLst>
              <a:path h="656957" w="2038183">
                <a:moveTo>
                  <a:pt x="0" y="0"/>
                </a:moveTo>
                <a:lnTo>
                  <a:pt x="2038183" y="0"/>
                </a:lnTo>
                <a:lnTo>
                  <a:pt x="2038183" y="656957"/>
                </a:lnTo>
                <a:lnTo>
                  <a:pt x="0" y="656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6141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93506" y="2761173"/>
            <a:ext cx="4106396" cy="2710222"/>
            <a:chOff x="0" y="0"/>
            <a:chExt cx="635000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6823" y="0"/>
                  </a:moveTo>
                  <a:lnTo>
                    <a:pt x="598177" y="0"/>
                  </a:lnTo>
                  <a:cubicBezTo>
                    <a:pt x="618514" y="0"/>
                    <a:pt x="635000" y="16486"/>
                    <a:pt x="635000" y="36823"/>
                  </a:cubicBezTo>
                  <a:lnTo>
                    <a:pt x="635000" y="382277"/>
                  </a:lnTo>
                  <a:cubicBezTo>
                    <a:pt x="635000" y="402614"/>
                    <a:pt x="618514" y="419100"/>
                    <a:pt x="598177" y="419100"/>
                  </a:cubicBezTo>
                  <a:lnTo>
                    <a:pt x="36823" y="419100"/>
                  </a:lnTo>
                  <a:cubicBezTo>
                    <a:pt x="16486" y="419100"/>
                    <a:pt x="0" y="402614"/>
                    <a:pt x="0" y="382277"/>
                  </a:cubicBezTo>
                  <a:lnTo>
                    <a:pt x="0" y="36823"/>
                  </a:lnTo>
                  <a:cubicBezTo>
                    <a:pt x="0" y="16486"/>
                    <a:pt x="16486" y="0"/>
                    <a:pt x="368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95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Project Manager / System Analyst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99902" y="2761173"/>
            <a:ext cx="4106396" cy="2710222"/>
            <a:chOff x="0" y="0"/>
            <a:chExt cx="635000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6823" y="0"/>
                  </a:moveTo>
                  <a:lnTo>
                    <a:pt x="598177" y="0"/>
                  </a:lnTo>
                  <a:cubicBezTo>
                    <a:pt x="618514" y="0"/>
                    <a:pt x="635000" y="16486"/>
                    <a:pt x="635000" y="36823"/>
                  </a:cubicBezTo>
                  <a:lnTo>
                    <a:pt x="635000" y="382277"/>
                  </a:lnTo>
                  <a:cubicBezTo>
                    <a:pt x="635000" y="402614"/>
                    <a:pt x="618514" y="419100"/>
                    <a:pt x="598177" y="419100"/>
                  </a:cubicBezTo>
                  <a:lnTo>
                    <a:pt x="36823" y="419100"/>
                  </a:lnTo>
                  <a:cubicBezTo>
                    <a:pt x="16486" y="419100"/>
                    <a:pt x="0" y="402614"/>
                    <a:pt x="0" y="382277"/>
                  </a:cubicBezTo>
                  <a:lnTo>
                    <a:pt x="0" y="36823"/>
                  </a:lnTo>
                  <a:cubicBezTo>
                    <a:pt x="0" y="16486"/>
                    <a:pt x="16486" y="0"/>
                    <a:pt x="368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95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Backend Developer &amp; Database Engineer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3506" y="5471394"/>
            <a:ext cx="4106396" cy="2710222"/>
            <a:chOff x="0" y="0"/>
            <a:chExt cx="635000" cy="419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6823" y="0"/>
                  </a:moveTo>
                  <a:lnTo>
                    <a:pt x="598177" y="0"/>
                  </a:lnTo>
                  <a:cubicBezTo>
                    <a:pt x="618514" y="0"/>
                    <a:pt x="635000" y="16486"/>
                    <a:pt x="635000" y="36823"/>
                  </a:cubicBezTo>
                  <a:lnTo>
                    <a:pt x="635000" y="382277"/>
                  </a:lnTo>
                  <a:cubicBezTo>
                    <a:pt x="635000" y="402614"/>
                    <a:pt x="618514" y="419100"/>
                    <a:pt x="598177" y="419100"/>
                  </a:cubicBezTo>
                  <a:lnTo>
                    <a:pt x="36823" y="419100"/>
                  </a:lnTo>
                  <a:cubicBezTo>
                    <a:pt x="16486" y="419100"/>
                    <a:pt x="0" y="402614"/>
                    <a:pt x="0" y="382277"/>
                  </a:cubicBezTo>
                  <a:lnTo>
                    <a:pt x="0" y="36823"/>
                  </a:lnTo>
                  <a:cubicBezTo>
                    <a:pt x="0" y="16486"/>
                    <a:pt x="16486" y="0"/>
                    <a:pt x="368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9550" cap="rnd">
              <a:solidFill>
                <a:srgbClr val="7ED957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Frontend Developer &amp; UI/UX Designer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99902" y="5471394"/>
            <a:ext cx="4106396" cy="2710222"/>
            <a:chOff x="0" y="0"/>
            <a:chExt cx="635000" cy="419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6823" y="0"/>
                  </a:moveTo>
                  <a:lnTo>
                    <a:pt x="598177" y="0"/>
                  </a:lnTo>
                  <a:cubicBezTo>
                    <a:pt x="618514" y="0"/>
                    <a:pt x="635000" y="16486"/>
                    <a:pt x="635000" y="36823"/>
                  </a:cubicBezTo>
                  <a:lnTo>
                    <a:pt x="635000" y="382277"/>
                  </a:lnTo>
                  <a:cubicBezTo>
                    <a:pt x="635000" y="402614"/>
                    <a:pt x="618514" y="419100"/>
                    <a:pt x="598177" y="419100"/>
                  </a:cubicBezTo>
                  <a:lnTo>
                    <a:pt x="36823" y="419100"/>
                  </a:lnTo>
                  <a:cubicBezTo>
                    <a:pt x="16486" y="419100"/>
                    <a:pt x="0" y="402614"/>
                    <a:pt x="0" y="382277"/>
                  </a:cubicBezTo>
                  <a:lnTo>
                    <a:pt x="0" y="36823"/>
                  </a:lnTo>
                  <a:cubicBezTo>
                    <a:pt x="0" y="16486"/>
                    <a:pt x="16486" y="0"/>
                    <a:pt x="368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955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QA Tester / DevOps Engineer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82991" y="6181944"/>
            <a:ext cx="3402852" cy="1359390"/>
            <a:chOff x="0" y="0"/>
            <a:chExt cx="6268847" cy="25043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1" y="0"/>
              <a:ext cx="6268836" cy="2504357"/>
            </a:xfrm>
            <a:custGeom>
              <a:avLst/>
              <a:gdLst/>
              <a:ahLst/>
              <a:cxnLst/>
              <a:rect r="r" b="b" t="t" l="l"/>
              <a:pathLst>
                <a:path h="2504357" w="6268836">
                  <a:moveTo>
                    <a:pt x="269102" y="998855"/>
                  </a:moveTo>
                  <a:cubicBezTo>
                    <a:pt x="322315" y="1150493"/>
                    <a:pt x="494146" y="1302512"/>
                    <a:pt x="651245" y="1336675"/>
                  </a:cubicBezTo>
                  <a:lnTo>
                    <a:pt x="5983467" y="2497836"/>
                  </a:lnTo>
                  <a:cubicBezTo>
                    <a:pt x="6140439" y="2531999"/>
                    <a:pt x="6268836" y="2428494"/>
                    <a:pt x="6268836" y="2267839"/>
                  </a:cubicBezTo>
                  <a:lnTo>
                    <a:pt x="6268836" y="292100"/>
                  </a:lnTo>
                  <a:cubicBezTo>
                    <a:pt x="6268836" y="131445"/>
                    <a:pt x="6137391" y="0"/>
                    <a:pt x="5976736" y="0"/>
                  </a:cubicBezTo>
                  <a:lnTo>
                    <a:pt x="210936" y="0"/>
                  </a:lnTo>
                  <a:cubicBezTo>
                    <a:pt x="50281" y="0"/>
                    <a:pt x="-37603" y="124079"/>
                    <a:pt x="15483" y="275590"/>
                  </a:cubicBezTo>
                  <a:lnTo>
                    <a:pt x="269102" y="998855"/>
                  </a:lnTo>
                  <a:close/>
                </a:path>
              </a:pathLst>
            </a:custGeom>
            <a:blipFill>
              <a:blip r:embed="rId3"/>
              <a:stretch>
                <a:fillRect l="0" t="-32149" r="0" b="-3214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66197" y="6181944"/>
            <a:ext cx="2799010" cy="3414996"/>
            <a:chOff x="0" y="0"/>
            <a:chExt cx="5160264" cy="62958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60251" cy="6295822"/>
            </a:xfrm>
            <a:custGeom>
              <a:avLst/>
              <a:gdLst/>
              <a:ahLst/>
              <a:cxnLst/>
              <a:rect r="r" b="b" t="t" l="l"/>
              <a:pathLst>
                <a:path h="6295822" w="5160251">
                  <a:moveTo>
                    <a:pt x="292100" y="0"/>
                  </a:moveTo>
                  <a:cubicBezTo>
                    <a:pt x="131445" y="0"/>
                    <a:pt x="0" y="131445"/>
                    <a:pt x="0" y="292100"/>
                  </a:cubicBezTo>
                  <a:lnTo>
                    <a:pt x="0" y="6057900"/>
                  </a:lnTo>
                  <a:cubicBezTo>
                    <a:pt x="0" y="6218555"/>
                    <a:pt x="128651" y="6322822"/>
                    <a:pt x="285750" y="6289675"/>
                  </a:cubicBezTo>
                  <a:lnTo>
                    <a:pt x="4955286" y="5304663"/>
                  </a:lnTo>
                  <a:cubicBezTo>
                    <a:pt x="5112512" y="5271516"/>
                    <a:pt x="5197602" y="5120386"/>
                    <a:pt x="5144389" y="4968748"/>
                  </a:cubicBezTo>
                  <a:lnTo>
                    <a:pt x="3498469" y="275590"/>
                  </a:lnTo>
                  <a:cubicBezTo>
                    <a:pt x="3445383" y="124079"/>
                    <a:pt x="3270377" y="0"/>
                    <a:pt x="3109722" y="0"/>
                  </a:cubicBezTo>
                  <a:lnTo>
                    <a:pt x="292100" y="0"/>
                  </a:lnTo>
                  <a:close/>
                </a:path>
              </a:pathLst>
            </a:custGeom>
            <a:blipFill>
              <a:blip r:embed="rId4"/>
              <a:stretch>
                <a:fillRect l="-41421" t="0" r="-41421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242880" y="7273571"/>
            <a:ext cx="3042963" cy="1782788"/>
            <a:chOff x="0" y="0"/>
            <a:chExt cx="6269228" cy="36729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-3" y="-39"/>
              <a:ext cx="6269104" cy="3673006"/>
            </a:xfrm>
            <a:custGeom>
              <a:avLst/>
              <a:gdLst/>
              <a:ahLst/>
              <a:cxnLst/>
              <a:rect r="r" b="b" t="t" l="l"/>
              <a:pathLst>
                <a:path h="3673006" w="6269104">
                  <a:moveTo>
                    <a:pt x="204600" y="6897"/>
                  </a:moveTo>
                  <a:cubicBezTo>
                    <a:pt x="47628" y="-27266"/>
                    <a:pt x="-37335" y="68873"/>
                    <a:pt x="15878" y="220384"/>
                  </a:cubicBezTo>
                  <a:lnTo>
                    <a:pt x="1130049" y="3397416"/>
                  </a:lnTo>
                  <a:cubicBezTo>
                    <a:pt x="1183262" y="3549054"/>
                    <a:pt x="1358141" y="3673006"/>
                    <a:pt x="1518796" y="3673006"/>
                  </a:cubicBezTo>
                  <a:lnTo>
                    <a:pt x="5977004" y="3673006"/>
                  </a:lnTo>
                  <a:cubicBezTo>
                    <a:pt x="6137659" y="3673006"/>
                    <a:pt x="6269104" y="3541561"/>
                    <a:pt x="6269104" y="3380906"/>
                  </a:cubicBezTo>
                  <a:lnTo>
                    <a:pt x="6269104" y="1619670"/>
                  </a:lnTo>
                  <a:cubicBezTo>
                    <a:pt x="6269104" y="1459015"/>
                    <a:pt x="6140707" y="1299630"/>
                    <a:pt x="5983735" y="1265467"/>
                  </a:cubicBezTo>
                  <a:lnTo>
                    <a:pt x="204600" y="6897"/>
                  </a:lnTo>
                  <a:close/>
                </a:path>
              </a:pathLst>
            </a:custGeom>
            <a:blipFill>
              <a:blip r:embed="rId5"/>
              <a:stretch>
                <a:fillRect l="0" t="-6945" r="0" b="-694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420172" y="1341957"/>
            <a:ext cx="8316934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HUMAN RESOURCE MANAGEMENT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02956" y="2665923"/>
            <a:ext cx="4645605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Pengelolaan SDM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02956" y="3469223"/>
            <a:ext cx="6577055" cy="238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 internal (tanpa outsourcing)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Pembagian peran jelas berbasis kompetensi</a:t>
            </a:r>
          </a:p>
          <a:p>
            <a:pPr algn="l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Koordinasi lin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peran selama siklus proyek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75279" y="1348138"/>
            <a:ext cx="1254925" cy="677883"/>
            <a:chOff x="0" y="0"/>
            <a:chExt cx="330515" cy="178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0515" cy="178537"/>
            </a:xfrm>
            <a:custGeom>
              <a:avLst/>
              <a:gdLst/>
              <a:ahLst/>
              <a:cxnLst/>
              <a:rect r="r" b="b" t="t" l="l"/>
              <a:pathLst>
                <a:path h="178537" w="330515">
                  <a:moveTo>
                    <a:pt x="0" y="0"/>
                  </a:moveTo>
                  <a:lnTo>
                    <a:pt x="330515" y="0"/>
                  </a:lnTo>
                  <a:lnTo>
                    <a:pt x="330515" y="178537"/>
                  </a:lnTo>
                  <a:lnTo>
                    <a:pt x="0" y="178537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0515" cy="226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8959" y="457755"/>
            <a:ext cx="2038183" cy="656957"/>
          </a:xfrm>
          <a:custGeom>
            <a:avLst/>
            <a:gdLst/>
            <a:ahLst/>
            <a:cxnLst/>
            <a:rect r="r" b="b" t="t" l="l"/>
            <a:pathLst>
              <a:path h="656957" w="2038183">
                <a:moveTo>
                  <a:pt x="0" y="0"/>
                </a:moveTo>
                <a:lnTo>
                  <a:pt x="2038183" y="0"/>
                </a:lnTo>
                <a:lnTo>
                  <a:pt x="2038183" y="656957"/>
                </a:lnTo>
                <a:lnTo>
                  <a:pt x="0" y="656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614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172" y="1341957"/>
            <a:ext cx="1541587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COST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20625" y="2162037"/>
          <a:ext cx="16646750" cy="7633607"/>
        </p:xfrm>
        <a:graphic>
          <a:graphicData uri="http://schemas.openxmlformats.org/drawingml/2006/table">
            <a:tbl>
              <a:tblPr/>
              <a:tblGrid>
                <a:gridCol w="713505"/>
                <a:gridCol w="2666447"/>
                <a:gridCol w="3878866"/>
                <a:gridCol w="5421294"/>
                <a:gridCol w="3966639"/>
              </a:tblGrid>
              <a:tr h="5893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Kategori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Komponen / Peran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Deskripsi / Keterangan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Total Biaya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Tools &amp; Infrastruktur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Server Production &amp; Staging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Cloud server high availability (Pusdatin / private cloud)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Rp 15.000.000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3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Tools &amp; Infrastruktur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Keamanan Sistem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SSL, hardening server, security testing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Rp 7.000.000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3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Tools &amp; Infrastruktur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Tools Development Berlisensi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 premium, UI/UX tools, testing tools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Rp 8.000.000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3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Tools &amp; Infrastruktur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Integrasi Sistem OSS &amp; Pilar B3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API testing, sinkronisasi data, logging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Rp 8.000.000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3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Tools &amp; Infrastruktur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Monitoring &amp; Backup System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Logging, audit trail, backup otomatis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Rp 6.000.000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3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Tools &amp; Infrastruktur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Dokumentasi &amp; Pelatihan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User manual, admin guide, materi training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Rp 6.000.000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3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SDM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Project Manager / System Analyst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orang × 30 hari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Rp 10.000.000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SDM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Backend Developer &amp; Database Engineer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orang × 30 hari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Rp 10.000.000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3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SDM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Frontend Developer &amp; UI/UX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orang × 30 hari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Rp 10.000.000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3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SDM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QA Tester / Deployment (DevOps)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orang × 30 hari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Rp 10.000.000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354">
                <a:tc gridSpan="4"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TOTAL KESELURUHAN ANGGARAN PROYEK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TOTAL KESELURUHAN ANGGARAN PROYEK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TOTAL KESELURUHAN ANGGARAN PROYEK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TOTAL KESELURUHAN ANGGARAN PROYEK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Rp 90.000.000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75279" y="1348138"/>
            <a:ext cx="1254925" cy="677883"/>
            <a:chOff x="0" y="0"/>
            <a:chExt cx="330515" cy="178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0515" cy="178537"/>
            </a:xfrm>
            <a:custGeom>
              <a:avLst/>
              <a:gdLst/>
              <a:ahLst/>
              <a:cxnLst/>
              <a:rect r="r" b="b" t="t" l="l"/>
              <a:pathLst>
                <a:path h="178537" w="330515">
                  <a:moveTo>
                    <a:pt x="0" y="0"/>
                  </a:moveTo>
                  <a:lnTo>
                    <a:pt x="330515" y="0"/>
                  </a:lnTo>
                  <a:lnTo>
                    <a:pt x="330515" y="178537"/>
                  </a:lnTo>
                  <a:lnTo>
                    <a:pt x="0" y="178537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0515" cy="226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8959" y="457755"/>
            <a:ext cx="2038183" cy="656957"/>
          </a:xfrm>
          <a:custGeom>
            <a:avLst/>
            <a:gdLst/>
            <a:ahLst/>
            <a:cxnLst/>
            <a:rect r="r" b="b" t="t" l="l"/>
            <a:pathLst>
              <a:path h="656957" w="2038183">
                <a:moveTo>
                  <a:pt x="0" y="0"/>
                </a:moveTo>
                <a:lnTo>
                  <a:pt x="2038183" y="0"/>
                </a:lnTo>
                <a:lnTo>
                  <a:pt x="2038183" y="656957"/>
                </a:lnTo>
                <a:lnTo>
                  <a:pt x="0" y="656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614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172" y="1341957"/>
            <a:ext cx="4984196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KEY RISKS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420172" y="2129794"/>
          <a:ext cx="17480599" cy="7864475"/>
        </p:xfrm>
        <a:graphic>
          <a:graphicData uri="http://schemas.openxmlformats.org/drawingml/2006/table">
            <a:tbl>
              <a:tblPr/>
              <a:tblGrid>
                <a:gridCol w="2019873"/>
                <a:gridCol w="5177792"/>
                <a:gridCol w="4661224"/>
                <a:gridCol w="5621710"/>
              </a:tblGrid>
              <a:tr h="6314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Kategori Risiko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Risiko Utama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Dampak terhadap Proyek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Strategi Mitigasi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4543">
                <a:tc rowSpan="3"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Teknis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Integrasi API OSS / sistem internal gagal atau tidak sinkron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Fitur utama PTSP tidak berfungsi optimal, keterlambatan go-live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Mock API, fallback mechanism, koordinasi intensif dengan sistem eksternal, testing bertahap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9137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Teknis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Bug kritis &amp; celah keamanan (OWASP High)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Sistem tidak stabil dan berisiko keamanan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Early testing, code review, penetration test, patch &amp; re-test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415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Teknis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Performa sistem lambat saat peak usage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Penurunan kualitas layanan publik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Load testing, optimasi query, caching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9137">
                <a:tc rowSpan="2"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Waktu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Keterlambatan kesiapan server produksi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Mundurnya jadwal deployment dan uji performa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Server sementara (cloud/staging), percepatan koordinasi infrastruktur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9137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Waktu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Estimasi jadwal kurang akurat &amp; scope creep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Milestone tidak tercapai, jadwal molor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Monitoring ketat, re-baseline, change control process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9137">
                <a:tc rowSpan="3"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SDM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Keterbatasan ketersediaan tim developer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Pengembangan melambat, kualitas menurun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Penyesuaian alokasi resource, prioritas kerja, opsi tambahan resource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9137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SDM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Operator/admin PTSP belum siap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Sistem tidak dimanfaatkan optimal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Pelatihan berjenjang, user manual, pendampingan awal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415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SDM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Resistensi pengguna terhadap sistem baru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Hambatan implementasi pasca go-live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Sosialisasi, komunikasi intensif, training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8959" y="457755"/>
            <a:ext cx="2038183" cy="656957"/>
          </a:xfrm>
          <a:custGeom>
            <a:avLst/>
            <a:gdLst/>
            <a:ahLst/>
            <a:cxnLst/>
            <a:rect r="r" b="b" t="t" l="l"/>
            <a:pathLst>
              <a:path h="656957" w="2038183">
                <a:moveTo>
                  <a:pt x="0" y="0"/>
                </a:moveTo>
                <a:lnTo>
                  <a:pt x="2038183" y="0"/>
                </a:lnTo>
                <a:lnTo>
                  <a:pt x="2038183" y="656957"/>
                </a:lnTo>
                <a:lnTo>
                  <a:pt x="0" y="656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614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89323" y="3581806"/>
            <a:ext cx="7309353" cy="187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60"/>
              </a:lnSpc>
              <a:spcBef>
                <a:spcPct val="0"/>
              </a:spcBef>
            </a:pPr>
            <a:r>
              <a:rPr lang="en-US" b="true" sz="10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DEMO TIME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84018" y="5589818"/>
            <a:ext cx="10919963" cy="90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u="sng">
                <a:solidFill>
                  <a:srgbClr val="0097B2"/>
                </a:solidFill>
                <a:latin typeface="Poppins"/>
                <a:ea typeface="Poppins"/>
                <a:cs typeface="Poppins"/>
                <a:sym typeface="Poppins"/>
                <a:hlinkClick r:id="rId3" tooltip="https://www.figma.com/make/JOQyY2o3IQ0m8RfH6MOVMf/Sistem-Integrasi-Perizinan?p=f&amp;t=hgqqGFdy6yOPauMR-0&amp;fullscreen=1"/>
              </a:rPr>
              <a:t>LINK FIGMA: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0721" y="3516133"/>
            <a:ext cx="3529421" cy="3338071"/>
            <a:chOff x="0" y="0"/>
            <a:chExt cx="929559" cy="879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559" cy="879163"/>
            </a:xfrm>
            <a:custGeom>
              <a:avLst/>
              <a:gdLst/>
              <a:ahLst/>
              <a:cxnLst/>
              <a:rect r="r" b="b" t="t" l="l"/>
              <a:pathLst>
                <a:path h="879163" w="929559">
                  <a:moveTo>
                    <a:pt x="0" y="0"/>
                  </a:moveTo>
                  <a:lnTo>
                    <a:pt x="929559" y="0"/>
                  </a:lnTo>
                  <a:lnTo>
                    <a:pt x="929559" y="879163"/>
                  </a:lnTo>
                  <a:lnTo>
                    <a:pt x="0" y="879163"/>
                  </a:lnTo>
                  <a:close/>
                </a:path>
              </a:pathLst>
            </a:custGeom>
            <a:solidFill>
              <a:srgbClr val="BCA37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29559" cy="926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50683" y="7365373"/>
            <a:ext cx="1190712" cy="119071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207460" y="7876541"/>
            <a:ext cx="2618042" cy="4114800"/>
          </a:xfrm>
          <a:custGeom>
            <a:avLst/>
            <a:gdLst/>
            <a:ahLst/>
            <a:cxnLst/>
            <a:rect r="r" b="b" t="t" l="l"/>
            <a:pathLst>
              <a:path h="4114800" w="2618042">
                <a:moveTo>
                  <a:pt x="0" y="0"/>
                </a:moveTo>
                <a:lnTo>
                  <a:pt x="2618042" y="0"/>
                </a:lnTo>
                <a:lnTo>
                  <a:pt x="2618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3601700" y="2158589"/>
            <a:ext cx="7315200" cy="247973"/>
          </a:xfrm>
          <a:custGeom>
            <a:avLst/>
            <a:gdLst/>
            <a:ahLst/>
            <a:cxnLst/>
            <a:rect r="r" b="b" t="t" l="l"/>
            <a:pathLst>
              <a:path h="247973" w="7315200">
                <a:moveTo>
                  <a:pt x="0" y="0"/>
                </a:moveTo>
                <a:lnTo>
                  <a:pt x="7315200" y="0"/>
                </a:lnTo>
                <a:lnTo>
                  <a:pt x="7315200" y="247973"/>
                </a:lnTo>
                <a:lnTo>
                  <a:pt x="0" y="247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74125" y="-869877"/>
            <a:ext cx="3251377" cy="2483239"/>
          </a:xfrm>
          <a:custGeom>
            <a:avLst/>
            <a:gdLst/>
            <a:ahLst/>
            <a:cxnLst/>
            <a:rect r="r" b="b" t="t" l="l"/>
            <a:pathLst>
              <a:path h="2483239" w="3251377">
                <a:moveTo>
                  <a:pt x="0" y="0"/>
                </a:moveTo>
                <a:lnTo>
                  <a:pt x="3251377" y="0"/>
                </a:lnTo>
                <a:lnTo>
                  <a:pt x="3251377" y="2483240"/>
                </a:lnTo>
                <a:lnTo>
                  <a:pt x="0" y="248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71519" y="3350122"/>
            <a:ext cx="14744962" cy="316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08"/>
              </a:lnSpc>
            </a:pPr>
            <a:r>
              <a:rPr lang="en-US" b="true" sz="1750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58959" y="457755"/>
            <a:ext cx="2038183" cy="656957"/>
          </a:xfrm>
          <a:custGeom>
            <a:avLst/>
            <a:gdLst/>
            <a:ahLst/>
            <a:cxnLst/>
            <a:rect r="r" b="b" t="t" l="l"/>
            <a:pathLst>
              <a:path h="656957" w="2038183">
                <a:moveTo>
                  <a:pt x="0" y="0"/>
                </a:moveTo>
                <a:lnTo>
                  <a:pt x="2038183" y="0"/>
                </a:lnTo>
                <a:lnTo>
                  <a:pt x="2038183" y="656957"/>
                </a:lnTo>
                <a:lnTo>
                  <a:pt x="0" y="65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6141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DAG7-R09veA</dc:identifier>
  <dcterms:modified xsi:type="dcterms:W3CDTF">2011-08-01T06:04:30Z</dcterms:modified>
  <cp:revision>1</cp:revision>
  <dc:title>Sistem Informasi Pelayanan Terpadu Satu Pintu (PTSP)</dc:title>
</cp:coreProperties>
</file>